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Halcyon 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Precision antifibrotics for chronic kidney disease</a:t>
            </a:r>
          </a:p>
          <a:p>
            <a:r>
              <a:rPr sz="1400"/>
              <a:t>Seed round — confidential investor deck,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37 million US adults live with chronic kidney disease; 90% are undiagnosed.</a:t>
            </a:r>
          </a:p>
          <a:p>
            <a:r>
              <a:rPr sz="1400"/>
              <a:t>Kidney failure costs Medicare $87B per year, 7% of the total Medicare budget.</a:t>
            </a:r>
          </a:p>
          <a:p>
            <a:r>
              <a:rPr sz="1400"/>
              <a:t>Standard of care (RAAS inhibitors, SGLT2) slows decline but does not reverse fibrosis.</a:t>
            </a:r>
          </a:p>
          <a:p>
            <a:r>
              <a:rPr sz="1400"/>
              <a:t>No approved therapy targets the myofibroblast activation pathway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HB-204 is an oral small-molecule inhibitor of the TGF-beta / ALK5 axis,</a:t>
            </a:r>
          </a:p>
          <a:p>
            <a:r>
              <a:rPr sz="1400"/>
              <a:t>engineered for kidney-selective tissue exposure to avoid systemic toxicity.</a:t>
            </a:r>
          </a:p>
          <a:p>
            <a:r>
              <a:rPr sz="1400"/>
              <a:t>In two rodent models, HB-204 reduced interstitial fibrosis 41% vs. vehicle</a:t>
            </a:r>
          </a:p>
          <a:p>
            <a:r>
              <a:rPr sz="1400"/>
              <a:t>and preserved eGFR at 12 weeks. Tissue selectivity index of 18x vs. liver.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FDA's 2025 draft guidance accepts eGFR slope as a surrogate endpoint,</a:t>
            </a:r>
          </a:p>
          <a:p>
            <a:r>
              <a:rPr sz="1400"/>
              <a:t>cutting registrational trial timelines from 6 years to roughly 30 months.</a:t>
            </a:r>
          </a:p>
          <a:p>
            <a:r>
              <a:rPr sz="1400"/>
              <a:t>SGLT2 inhibitor adoption has created a diagnosed, monitored patient population</a:t>
            </a:r>
          </a:p>
          <a:p>
            <a:r>
              <a:rPr sz="1400"/>
              <a:t>that did not exist five years ago, making trial recruitment materially cheaper.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TAM: $24B global CKD therapeutics market by 2032 (Evaluate Pharma, 2025).</a:t>
            </a:r>
          </a:p>
          <a:p>
            <a:r>
              <a:rPr sz="1400"/>
              <a:t>SAM: 2.1M US patients with stage 3b-4 CKD and confirmed fibrosis progression;</a:t>
            </a:r>
          </a:p>
          <a:p>
            <a:r>
              <a:rPr sz="1400"/>
              <a:t>at $14,000 annual net price, a $29B serviceable market.</a:t>
            </a:r>
          </a:p>
          <a:p>
            <a:r>
              <a:rPr sz="1400"/>
              <a:t>SOM: 4% penetration of the nephrologist-managed segment = $1.1B peak US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$2.4M NIH NIDDK SBIR Phase II awarded March 2026 (non-dilutive).</a:t>
            </a:r>
          </a:p>
          <a:p>
            <a:r>
              <a:rPr sz="1400"/>
              <a:t>IND-enabling GLP toxicology completed; no adverse findings at 10x exposure.</a:t>
            </a:r>
          </a:p>
          <a:p>
            <a:r>
              <a:rPr sz="1400"/>
              <a:t>Pre-IND meeting held with FDA Division of Cardiology and Nephrology, Feb 2026.</a:t>
            </a:r>
          </a:p>
          <a:p>
            <a:r>
              <a:rPr sz="1400"/>
              <a:t>Research collaboration signed with a top-5 pharma (name under NDA).</a:t>
            </a:r>
          </a:p>
          <a:p>
            <a:r>
              <a:rPr sz="1400"/>
              <a:t>Two KOL advisors from Joslin and UCSF nephrology.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Develop HB-204 through Phase 2a proof-of-concept, then partner or license</a:t>
            </a:r>
          </a:p>
          <a:p>
            <a:r>
              <a:rPr sz="1400"/>
              <a:t>to a large-cap nephrology franchise. Comparable deals: Chinook/Novartis ($3.5B, 2022),</a:t>
            </a:r>
          </a:p>
          <a:p>
            <a:r>
              <a:rPr sz="1400"/>
              <a:t>Aurinia partnership economics of $60M upfront plus milestones.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Dr. Priya Raghavan, CEO — 14 years at Vertex, led two INDs to Phase 2.</a:t>
            </a:r>
          </a:p>
          <a:p>
            <a:r>
              <a:rPr sz="1400"/>
              <a:t>Dr. Martin Hale, CSO and founder — Professor of Nephrology, discovered the ALK5</a:t>
            </a:r>
          </a:p>
          <a:p>
            <a:r>
              <a:rPr sz="1400"/>
              <a:t>kidney-selective scaffold; 40 publications, h-index 38.</a:t>
            </a:r>
          </a:p>
          <a:p>
            <a:r>
              <a:rPr sz="1400"/>
              <a:t>Susan Okafor, VP Regulatory — former FDA reviewer, CDER.</a:t>
            </a:r>
          </a:p>
          <a:p>
            <a:r>
              <a:rPr sz="1400"/>
              <a:t>CRO partner: Charles River (tox), Frontage (CMC).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Composition-of-matter patent granted US 11,847,203 (expires 2041), plus</a:t>
            </a:r>
          </a:p>
          <a:p>
            <a:r>
              <a:rPr sz="1400"/>
              <a:t>pending method-of-use claims in EU and Japan.</a:t>
            </a:r>
          </a:p>
          <a:p>
            <a:r>
              <a:rPr sz="1400"/>
              <a:t>Orphan designation pursued for Alport syndrome as a fast-follow indication.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Risks Retired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Toxicology: clean GLP tox in two species.</a:t>
            </a:r>
          </a:p>
          <a:p>
            <a:r>
              <a:rPr sz="1400"/>
              <a:t>Manufacturing: 4-step synthesis, 62% yield, kg-scale demonstrated.</a:t>
            </a:r>
          </a:p>
          <a:p>
            <a:r>
              <a:rPr sz="1400"/>
              <a:t>Regulatory: pathway aligned with FDA at pre-IND.</a:t>
            </a:r>
          </a:p>
          <a:p>
            <a:r>
              <a:rPr sz="1400"/>
              <a:t>Remaining risk is clinical translation of the fibrosis signal into eGFR benefit.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Raising $6M seed to file IND and complete Phase 1 SAD/MAD.</a:t>
            </a:r>
          </a:p>
          <a:p>
            <a:r>
              <a:rPr sz="1400"/>
              <a:t>Use of funds: 45% clinical, 25% CMC, 20% regulatory and toxicology, 10% G&amp;A.</a:t>
            </a:r>
          </a:p>
          <a:p>
            <a:r>
              <a:rPr sz="1400"/>
              <a:t>24-month runway to Phase 1 topline data in Q3 2028.</a:t>
            </a:r>
          </a:p>
          <a:p>
            <a:r>
              <a:rPr sz="1400"/>
              <a:t>$3.1M committed to date. Lead investor: Meridian Life Sciences.</a:t>
            </a:r>
          </a:p>
          <a:p>
            <a:r>
              <a:rPr sz="1400"/>
              <a:t>Contact: Priya Raghavan, priya@halcyonbio.com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864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Round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$6M seed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$3.1M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